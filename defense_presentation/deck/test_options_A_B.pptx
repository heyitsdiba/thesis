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odel3d1.glb" ContentType="model/gltf-binary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7/06/relationships/model3d" Target="../media/model3d1.glb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7/06/relationships/model3d" Target="../media/model3d1.glb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CellRender" descr="hek293t_cel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B334A"/>
                </a:solidFill>
                <a:latin typeface="Helvetica Neue"/>
              </a:defRPr>
            </a:pPr>
            <a:r>
              <a:t>HEK293T — producer cell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48C"/>
                </a:solidFill>
                <a:latin typeface="Helvetica Neue"/>
              </a:defRPr>
            </a:pPr>
            <a:r>
              <a:t>Option B · pre-rendered (click to zoom with Morph)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CellRender" descr="hek293t_cel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26787" y="-3154680"/>
            <a:ext cx="29260068" cy="1645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B334A"/>
                </a:solidFill>
                <a:latin typeface="Helvetica Neue"/>
              </a:defRPr>
            </a:pPr>
            <a:r>
              <a:t>Nucleus — zoomed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48C"/>
                </a:solidFill>
                <a:latin typeface="Helvetica Neue"/>
              </a:defRPr>
            </a:pPr>
            <a:r>
              <a:t>In the final deck this becomes a new close-up render or a short fly-in video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Cell3D" descr="3D model of a HEK293T cell (cutaway)"/>
              <p:cNvGraphicFramePr>
                <a:graphicFrameLocks noGrp="1" noChangeAspect="1"/>
              </p:cNvGraphicFramePr>
              <p:nvPr/>
            </p:nvGraphicFramePr>
            <p:xfrm>
              <a:off x="1527048" y="1280160"/>
              <a:ext cx="9144000" cy="51435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1527048" y="1280160"/>
                      <a:ext cx="9144000" cy="5143500"/>
                    </a:xfrm>
                    <a:prstGeom prst="rect">
                      <a:avLst/>
                    </a:prstGeom>
                  </am3d:spPr>
                  <am3d:camera>
                    <am3d:pos x="0" y="0" z="6700715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" d="1000000"/>
                    <am3d:preTrans dx="150000" dy="-2700000" dz="-65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-270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1435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005" y="0" z="-42532404"/>
                  </am3d:ptLight>
                </am3d:model3d>
              </a:graphicData>
            </a:graphic>
          </p:graphicFrame>
        </mc:Choice>
        <mc:Fallback>
          <p:pic>
            <p:nvPicPr>
              <p:cNvPr id="4" name="!!Cell3D" descr="3D model of a HEK293T cell (cutaway)"/>
              <p:cNvPicPr>
                <a:picLocks noGrp="1" noRot="1"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7048" y="1280160"/>
                <a:ext cx="9144000" cy="51435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B334A"/>
                </a:solidFill>
                <a:latin typeface="Helvetica Neue"/>
              </a:defRPr>
            </a:pPr>
            <a:r>
              <a:t>Option A · native 3D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48C"/>
                </a:solidFill>
                <a:latin typeface="Helvetica Neue"/>
              </a:defRPr>
            </a:pPr>
            <a:r>
              <a:t>Click the cell and drag the centre handle to rotate it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Cell3D" descr="3D model of a HEK293T cell (cutaway)"/>
              <p:cNvGraphicFramePr>
                <a:graphicFrameLocks noGrp="1" noChangeAspect="1"/>
              </p:cNvGraphicFramePr>
              <p:nvPr/>
            </p:nvGraphicFramePr>
            <p:xfrm>
              <a:off x="-3017520" y="-2194560"/>
              <a:ext cx="18288000" cy="10287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-3017520" y="-2194560"/>
                      <a:ext cx="18288000" cy="10287000"/>
                    </a:xfrm>
                    <a:prstGeom prst="rect">
                      <a:avLst/>
                    </a:prstGeom>
                  </am3d:spPr>
                  <am3d:camera>
                    <am3d:pos x="0" y="0" z="6700715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" d="1000000"/>
                    <am3d:preTrans dx="150000" dy="-2700000" dz="-65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0" ay="-150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0287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005" y="0" z="-42532404"/>
                  </am3d:ptLight>
                </am3d:model3d>
              </a:graphicData>
            </a:graphic>
          </p:graphicFrame>
        </mc:Choice>
        <mc:Fallback>
          <p:pic>
            <p:nvPicPr>
              <p:cNvPr id="4" name="!!Cell3D" descr="3D model of a HEK293T cell (cutaway)"/>
              <p:cNvPicPr>
                <a:picLocks noGrp="1" noRot="1"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017520" y="-2194560"/>
                <a:ext cx="18288000" cy="10287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B334A"/>
                </a:solidFill>
                <a:latin typeface="Helvetica Neue"/>
              </a:defRPr>
            </a:pPr>
            <a:r>
              <a:t>Option A · Morph between two 3D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48C"/>
                </a:solidFill>
                <a:latin typeface="Helvetica Neue"/>
              </a:defRPr>
            </a:pPr>
            <a:r>
              <a:t>Same model, rotated and enlarged — Morph animates the camera move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